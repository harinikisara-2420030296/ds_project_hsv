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10"/>
    <p:sldId id="272" r:id="rId11"/>
    <p:sldId id="266" r:id="rId12"/>
    <p:sldId id="267" r:id="rId13"/>
    <p:sldId id="274" r:id="rId14"/>
    <p:sldId id="275" r:id="rId15"/>
    <p:sldId id="273" r:id="rId16"/>
    <p:sldId id="268" r:id="rId17"/>
    <p:sldId id="269" r:id="rId18"/>
    <p:sldId id="270" r:id="rId19"/>
    <p:sldId id="26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01200" y="731520"/>
            <a:ext cx="2194560" cy="2194560"/>
          </a:xfrm>
          <a:prstGeom prst="ellipse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332720" y="3291840"/>
            <a:ext cx="1188720" cy="1188720"/>
          </a:xfrm>
          <a:prstGeom prst="ellipse">
            <a:avLst/>
          </a:prstGeom>
          <a:solidFill>
            <a:srgbClr val="F2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595360" y="4114800"/>
            <a:ext cx="731520" cy="731520"/>
          </a:xfrm>
          <a:prstGeom prst="ellipse">
            <a:avLst/>
          </a:prstGeom>
          <a:solidFill>
            <a:srgbClr val="44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7772400" cy="45720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600" b="1">
                <a:solidFill>
                  <a:srgbClr val="A6E0E5"/>
                </a:solidFill>
                <a:latin typeface="Aptos"/>
              </a:rPr>
              <a:t>ENGINEERING CAPSTONE PROJECT –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8686800" cy="109728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Aptos"/>
              </a:rPr>
              <a:t>City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63240"/>
            <a:ext cx="7589520" cy="59436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2500" b="0">
                <a:solidFill>
                  <a:srgbClr val="CDE4EC"/>
                </a:solidFill>
                <a:latin typeface="Aptos"/>
              </a:rPr>
              <a:t>Smart Civic Services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251960"/>
            <a:ext cx="8046720" cy="73152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800" b="0">
                <a:solidFill>
                  <a:srgbClr val="FFFFFF"/>
                </a:solidFill>
                <a:latin typeface="Aptos"/>
              </a:rPr>
              <a:t>An AI-powered platform for reporting and tracking local civic issues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532120"/>
            <a:ext cx="8869680" cy="36576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300" b="1">
                <a:solidFill>
                  <a:srgbClr val="CDE4EC"/>
                </a:solidFill>
                <a:latin typeface="Aptos"/>
              </a:rPr>
              <a:t>Team: Shravanya Sai Siri • Harini Kisara • Varsha Reddy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943600"/>
            <a:ext cx="6858000" cy="27432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200" b="0">
                <a:solidFill>
                  <a:srgbClr val="CDE4EC"/>
                </a:solidFill>
                <a:latin typeface="Aptos"/>
              </a:rPr>
              <a:t>Guide: Ms. Prathusha | A.Y. 2026–2027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510528"/>
            <a:ext cx="9144000" cy="18288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900" b="1">
                <a:solidFill>
                  <a:srgbClr val="5D707E"/>
                </a:solidFill>
                <a:latin typeface="Aptos"/>
              </a:rPr>
              <a:t>CITY CONNECT • SMART CIVIC SERVICES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r"/>
            <a:r>
              <a:rPr sz="1000" b="1">
                <a:solidFill>
                  <a:srgbClr val="5D707E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3000" b="1">
                <a:solidFill>
                  <a:srgbClr val="122B43"/>
                </a:solidFill>
                <a:latin typeface="Aptos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789920" cy="27432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200" b="1">
                <a:solidFill>
                  <a:srgbClr val="0097A7"/>
                </a:solidFill>
                <a:latin typeface="Aptos"/>
              </a:rPr>
              <a:t>WHAT IS CITY CONNECT?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685800" cy="54864"/>
          </a:xfrm>
          <a:prstGeom prst="rect">
            <a:avLst/>
          </a:prstGeom>
          <a:solidFill>
            <a:srgbClr val="F2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424160" cy="100584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2500" b="1">
                <a:solidFill>
                  <a:srgbClr val="122B43"/>
                </a:solidFill>
                <a:latin typeface="Aptos"/>
              </a:rPr>
              <a:t>City Connect is an AI-powered civic complaint management platform that connects citizens with relevant government authorities.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063240"/>
            <a:ext cx="33375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A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3063240"/>
            <a:ext cx="82296" cy="205740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3227832"/>
            <a:ext cx="2926079" cy="384048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800" b="1">
                <a:solidFill>
                  <a:srgbClr val="122B43"/>
                </a:solidFill>
                <a:latin typeface="Aptos"/>
              </a:rPr>
              <a:t>For citizens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721608"/>
            <a:ext cx="2898648" cy="1307592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500" b="0">
                <a:solidFill>
                  <a:srgbClr val="283744"/>
                </a:solidFill>
                <a:latin typeface="Aptos"/>
              </a:rPr>
              <a:t>Report local issues with details, location and photographs.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3063240"/>
            <a:ext cx="33375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A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3063240"/>
            <a:ext cx="82296" cy="2057400"/>
          </a:xfrm>
          <a:prstGeom prst="rect">
            <a:avLst/>
          </a:prstGeom>
          <a:solidFill>
            <a:srgbClr val="F2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3227832"/>
            <a:ext cx="2926079" cy="384048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800" b="1">
                <a:solidFill>
                  <a:srgbClr val="122B43"/>
                </a:solidFill>
                <a:latin typeface="Aptos"/>
              </a:rPr>
              <a:t>For authorities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721608"/>
            <a:ext cx="2898648" cy="1307592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500" b="0">
                <a:solidFill>
                  <a:srgbClr val="283744"/>
                </a:solidFill>
                <a:latin typeface="Aptos"/>
              </a:rPr>
              <a:t>View, assign, monitor and update complaints from one dashboard.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063240"/>
            <a:ext cx="33375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A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3063240"/>
            <a:ext cx="82296" cy="2057400"/>
          </a:xfrm>
          <a:prstGeom prst="rect">
            <a:avLst/>
          </a:prstGeom>
          <a:solidFill>
            <a:srgbClr val="5C8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3227832"/>
            <a:ext cx="2926079" cy="384048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800" b="1">
                <a:solidFill>
                  <a:srgbClr val="122B43"/>
                </a:solidFill>
                <a:latin typeface="Aptos"/>
              </a:rPr>
              <a:t>Role of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721608"/>
            <a:ext cx="2898648" cy="1307592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500" b="0">
                <a:solidFill>
                  <a:srgbClr val="283744"/>
                </a:solidFill>
                <a:latin typeface="Aptos"/>
              </a:rPr>
              <a:t>Analyze and categorize complaints, identify departments and help prioritize issues.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9144000" cy="18288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900" b="1">
                <a:solidFill>
                  <a:srgbClr val="5D707E"/>
                </a:solidFill>
                <a:latin typeface="Aptos"/>
              </a:rPr>
              <a:t>CITY CONNECT • SMART CIVIC SERVICES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r"/>
            <a:r>
              <a:rPr sz="1000" b="1">
                <a:solidFill>
                  <a:srgbClr val="5D707E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3000" b="1">
                <a:solidFill>
                  <a:srgbClr val="122B43"/>
                </a:solidFill>
                <a:latin typeface="Aptos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789920" cy="27432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200" b="1">
                <a:solidFill>
                  <a:srgbClr val="0097A7"/>
                </a:solidFill>
                <a:latin typeface="Aptos"/>
              </a:rPr>
              <a:t>WHY IS THIS NEEDED?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685800" cy="54864"/>
          </a:xfrm>
          <a:prstGeom prst="rect">
            <a:avLst/>
          </a:prstGeom>
          <a:solidFill>
            <a:srgbClr val="F2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332720" cy="64008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2300" b="1">
                <a:solidFill>
                  <a:srgbClr val="122B43"/>
                </a:solidFill>
                <a:latin typeface="Aptos"/>
              </a:rPr>
              <a:t>Citizens may find it difficult to report civic problems to the correct department and follow their progress.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5074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2743200"/>
            <a:ext cx="82296" cy="114300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907792"/>
            <a:ext cx="4663440" cy="384048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800" b="1">
                <a:solidFill>
                  <a:srgbClr val="122B43"/>
                </a:solidFill>
                <a:latin typeface="Aptos"/>
              </a:rPr>
              <a:t>Damaged roads &amp; potholes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401568"/>
            <a:ext cx="4636008" cy="393192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500" b="0">
                <a:solidFill>
                  <a:srgbClr val="283744"/>
                </a:solidFill>
                <a:latin typeface="Aptos"/>
              </a:rPr>
              <a:t>Road damage can affect everyday travel.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743200"/>
            <a:ext cx="5074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60" y="2743200"/>
            <a:ext cx="82296" cy="1143000"/>
          </a:xfrm>
          <a:prstGeom prst="rect">
            <a:avLst/>
          </a:prstGeom>
          <a:solidFill>
            <a:srgbClr val="F2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2907792"/>
            <a:ext cx="4663440" cy="384048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800" b="1">
                <a:solidFill>
                  <a:srgbClr val="122B43"/>
                </a:solidFill>
                <a:latin typeface="Aptos"/>
              </a:rPr>
              <a:t>Garbage accumulation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401568"/>
            <a:ext cx="4636008" cy="393192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500" b="0">
                <a:solidFill>
                  <a:srgbClr val="283744"/>
                </a:solidFill>
                <a:latin typeface="Aptos"/>
              </a:rPr>
              <a:t>Waste may remain unreported or unresolved.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160520"/>
            <a:ext cx="5074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" y="4160520"/>
            <a:ext cx="82296" cy="1143000"/>
          </a:xfrm>
          <a:prstGeom prst="rect">
            <a:avLst/>
          </a:prstGeom>
          <a:solidFill>
            <a:srgbClr val="5C8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4325112"/>
            <a:ext cx="4663440" cy="384048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800" b="1">
                <a:solidFill>
                  <a:srgbClr val="122B43"/>
                </a:solidFill>
                <a:latin typeface="Aptos"/>
              </a:rPr>
              <a:t>Drainage &amp; water issues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818888"/>
            <a:ext cx="4636008" cy="393192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500" b="0">
                <a:solidFill>
                  <a:srgbClr val="283744"/>
                </a:solidFill>
                <a:latin typeface="Aptos"/>
              </a:rPr>
              <a:t>Leaks and overflowing drains need attention.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4160520"/>
            <a:ext cx="5074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09360" y="4160520"/>
            <a:ext cx="82296" cy="1143000"/>
          </a:xfrm>
          <a:prstGeom prst="rect">
            <a:avLst/>
          </a:prstGeom>
          <a:solidFill>
            <a:srgbClr val="66A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37960" y="4325112"/>
            <a:ext cx="4663440" cy="384048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800" b="1">
                <a:solidFill>
                  <a:srgbClr val="122B43"/>
                </a:solidFill>
                <a:latin typeface="Aptos"/>
              </a:rPr>
              <a:t>Streetlight problems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818888"/>
            <a:ext cx="4636008" cy="393192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500" b="0">
                <a:solidFill>
                  <a:srgbClr val="283744"/>
                </a:solidFill>
                <a:latin typeface="Aptos"/>
              </a:rPr>
              <a:t>Damaged lights can affect public spaces.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10528"/>
            <a:ext cx="9144000" cy="18288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900" b="1">
                <a:solidFill>
                  <a:srgbClr val="5D707E"/>
                </a:solidFill>
                <a:latin typeface="Aptos"/>
              </a:rPr>
              <a:t>CITY CONNECT • SMART CIVIC SERVICES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r"/>
            <a:r>
              <a:rPr sz="1000" b="1">
                <a:solidFill>
                  <a:srgbClr val="5D707E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3000" b="1">
                <a:solidFill>
                  <a:srgbClr val="122B43"/>
                </a:solidFill>
                <a:latin typeface="Aptos"/>
              </a:rP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789920" cy="27432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200" b="1">
                <a:solidFill>
                  <a:srgbClr val="0097A7"/>
                </a:solidFill>
                <a:latin typeface="Aptos"/>
              </a:rPr>
              <a:t>ONE CENTRALIZED DIGITAL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685800" cy="54864"/>
          </a:xfrm>
          <a:prstGeom prst="rect">
            <a:avLst/>
          </a:prstGeom>
          <a:solidFill>
            <a:srgbClr val="F2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241280" cy="438912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2100" b="0">
                <a:solidFill>
                  <a:srgbClr val="283744"/>
                </a:solidFill>
                <a:latin typeface="Aptos"/>
              </a:rPr>
              <a:t>• Citizens submit civic complaints through a digital interface.
• Each complaint can include category, description, location, photographs and supporting details.
• AI analyzes the complaint and suggests its category and concerned department.
• Authorities manage complaints through a centralized dashboard.
• Citizens can track complaint status and receive updates.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9144000" cy="18288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900" b="1">
                <a:solidFill>
                  <a:srgbClr val="5D707E"/>
                </a:solidFill>
                <a:latin typeface="Aptos"/>
              </a:rPr>
              <a:t>CITY CONNECT • SMART CIVIC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r"/>
            <a:r>
              <a:rPr sz="1000" b="1">
                <a:solidFill>
                  <a:srgbClr val="5D707E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3000" b="1">
                <a:solidFill>
                  <a:srgbClr val="122B43"/>
                </a:solidFill>
                <a:latin typeface="Aptos"/>
              </a:rPr>
              <a:t>How the System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789920" cy="27432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200" b="1">
                <a:solidFill>
                  <a:srgbClr val="0097A7"/>
                </a:solidFill>
                <a:latin typeface="Aptos"/>
              </a:rPr>
              <a:t>COMPLAINT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685800" cy="54864"/>
          </a:xfrm>
          <a:prstGeom prst="rect">
            <a:avLst/>
          </a:prstGeom>
          <a:solidFill>
            <a:srgbClr val="F2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2240280"/>
            <a:ext cx="2084831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7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88720" y="1645920"/>
            <a:ext cx="713232" cy="713232"/>
          </a:xfrm>
          <a:prstGeom prst="ellipse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1828800"/>
            <a:ext cx="713232" cy="22860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606040"/>
            <a:ext cx="1755648" cy="41148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ctr"/>
            <a:r>
              <a:rPr sz="1900" b="1">
                <a:solidFill>
                  <a:srgbClr val="122B43"/>
                </a:solidFill>
                <a:latin typeface="Aptos"/>
              </a:rPr>
              <a:t>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3200400"/>
            <a:ext cx="1755648" cy="109728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ctr"/>
            <a:r>
              <a:rPr sz="1400" b="0">
                <a:solidFill>
                  <a:srgbClr val="283744"/>
                </a:solidFill>
                <a:latin typeface="Aptos"/>
              </a:rPr>
              <a:t>Citizen enters issue details, location and photo.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880360"/>
            <a:ext cx="320040" cy="45720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ctr"/>
            <a:r>
              <a:rPr sz="2600" b="1">
                <a:solidFill>
                  <a:srgbClr val="0097A7"/>
                </a:solidFill>
                <a:latin typeface="Aptos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62072" y="2240280"/>
            <a:ext cx="2084831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7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547872" y="1645920"/>
            <a:ext cx="713232" cy="713232"/>
          </a:xfrm>
          <a:prstGeom prst="ellipse">
            <a:avLst/>
          </a:prstGeom>
          <a:solidFill>
            <a:srgbClr val="F2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47872" y="1828800"/>
            <a:ext cx="713232" cy="22860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26664" y="2606040"/>
            <a:ext cx="1755648" cy="41148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ctr"/>
            <a:r>
              <a:rPr sz="1900" b="1">
                <a:solidFill>
                  <a:srgbClr val="122B43"/>
                </a:solidFill>
                <a:latin typeface="Aptos"/>
              </a:rPr>
              <a:t>Analyze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26664" y="3200400"/>
            <a:ext cx="1755648" cy="109728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ctr"/>
            <a:r>
              <a:rPr sz="1400" b="0">
                <a:solidFill>
                  <a:srgbClr val="283744"/>
                </a:solidFill>
                <a:latin typeface="Aptos"/>
              </a:rPr>
              <a:t>AI categorizes the complaint and helps assess priority.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9472" y="2880360"/>
            <a:ext cx="320040" cy="45720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ctr"/>
            <a:r>
              <a:rPr sz="2600" b="1">
                <a:solidFill>
                  <a:srgbClr val="0097A7"/>
                </a:solidFill>
                <a:latin typeface="Aptos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21224" y="2240280"/>
            <a:ext cx="2084831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7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907024" y="1645920"/>
            <a:ext cx="713232" cy="713232"/>
          </a:xfrm>
          <a:prstGeom prst="ellipse">
            <a:avLst/>
          </a:prstGeom>
          <a:solidFill>
            <a:srgbClr val="5C8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07024" y="1828800"/>
            <a:ext cx="713232" cy="22860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85816" y="2606040"/>
            <a:ext cx="1755648" cy="41148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ctr"/>
            <a:r>
              <a:rPr sz="1900" b="1">
                <a:solidFill>
                  <a:srgbClr val="122B43"/>
                </a:solidFill>
                <a:latin typeface="Aptos"/>
              </a:rPr>
              <a:t>Route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85816" y="3200400"/>
            <a:ext cx="1755648" cy="109728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ctr"/>
            <a:r>
              <a:rPr sz="1400" b="0">
                <a:solidFill>
                  <a:srgbClr val="283744"/>
                </a:solidFill>
                <a:latin typeface="Aptos"/>
              </a:rPr>
              <a:t>System identifies the relevant department.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78624" y="2880360"/>
            <a:ext cx="320040" cy="45720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ctr"/>
            <a:r>
              <a:rPr sz="2600" b="1">
                <a:solidFill>
                  <a:srgbClr val="0097A7"/>
                </a:solidFill>
                <a:latin typeface="Aptos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0376" y="2240280"/>
            <a:ext cx="2084831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7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266176" y="1645920"/>
            <a:ext cx="713232" cy="713232"/>
          </a:xfrm>
          <a:prstGeom prst="ellipse">
            <a:avLst/>
          </a:prstGeom>
          <a:solidFill>
            <a:srgbClr val="66A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66176" y="1828800"/>
            <a:ext cx="713232" cy="22860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44968" y="2606040"/>
            <a:ext cx="1755648" cy="41148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ctr"/>
            <a:r>
              <a:rPr sz="1900" b="1">
                <a:solidFill>
                  <a:srgbClr val="122B43"/>
                </a:solidFill>
                <a:latin typeface="Aptos"/>
              </a:rPr>
              <a:t>Manage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44968" y="3200400"/>
            <a:ext cx="1755648" cy="109728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ctr"/>
            <a:r>
              <a:rPr sz="1400" b="0">
                <a:solidFill>
                  <a:srgbClr val="283744"/>
                </a:solidFill>
                <a:latin typeface="Aptos"/>
              </a:rPr>
              <a:t>Officials assign and update the complaint.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37776" y="2880360"/>
            <a:ext cx="320040" cy="45720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ctr"/>
            <a:r>
              <a:rPr sz="2600" b="1">
                <a:solidFill>
                  <a:srgbClr val="0097A7"/>
                </a:solidFill>
                <a:latin typeface="Aptos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39528" y="2240280"/>
            <a:ext cx="2084831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7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625328" y="1645920"/>
            <a:ext cx="713232" cy="713232"/>
          </a:xfrm>
          <a:prstGeom prst="ellipse">
            <a:avLst/>
          </a:prstGeom>
          <a:solidFill>
            <a:srgbClr val="12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625328" y="1828800"/>
            <a:ext cx="713232" cy="22860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20" y="2606040"/>
            <a:ext cx="1755648" cy="41148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ctr"/>
            <a:r>
              <a:rPr sz="1900" b="1">
                <a:solidFill>
                  <a:srgbClr val="122B43"/>
                </a:solidFill>
                <a:latin typeface="Aptos"/>
              </a:rPr>
              <a:t>Track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04120" y="3200400"/>
            <a:ext cx="1755648" cy="109728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ctr"/>
            <a:r>
              <a:rPr sz="1400" b="0">
                <a:solidFill>
                  <a:srgbClr val="283744"/>
                </a:solidFill>
                <a:latin typeface="Aptos"/>
              </a:rPr>
              <a:t>Citizen follows progress through resolution.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349240"/>
            <a:ext cx="10332720" cy="41148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ctr"/>
            <a:r>
              <a:rPr sz="1700" b="1">
                <a:solidFill>
                  <a:srgbClr val="0097A7"/>
                </a:solidFill>
                <a:latin typeface="Aptos"/>
              </a:rPr>
              <a:t>Report → AI analysis → Department → Official updates → Resolution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510528"/>
            <a:ext cx="9144000" cy="18288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900" b="1">
                <a:solidFill>
                  <a:srgbClr val="5D707E"/>
                </a:solidFill>
                <a:latin typeface="Aptos"/>
              </a:rPr>
              <a:t>CITY CONNECT • SMART CIVIC SERVICES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r"/>
            <a:r>
              <a:rPr sz="1000" b="1">
                <a:solidFill>
                  <a:srgbClr val="5D707E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3000" b="1">
                <a:solidFill>
                  <a:srgbClr val="122B43"/>
                </a:solidFill>
                <a:latin typeface="Aptos"/>
              </a:rPr>
              <a:t>Role of Artificial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789920" cy="27432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200" b="1">
                <a:solidFill>
                  <a:srgbClr val="0097A7"/>
                </a:solidFill>
                <a:latin typeface="Aptos"/>
              </a:rPr>
              <a:t>HOW AI SUPPORTS THE PROCESS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685800" cy="54864"/>
          </a:xfrm>
          <a:prstGeom prst="rect">
            <a:avLst/>
          </a:prstGeom>
          <a:solidFill>
            <a:srgbClr val="F2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737360"/>
            <a:ext cx="82296" cy="182880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901952"/>
            <a:ext cx="3017520" cy="384048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800" b="1">
                <a:solidFill>
                  <a:srgbClr val="122B43"/>
                </a:solidFill>
                <a:latin typeface="Aptos"/>
              </a:rPr>
              <a:t>Complaint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95728"/>
            <a:ext cx="2990088" cy="1078992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500" b="0">
                <a:solidFill>
                  <a:srgbClr val="283744"/>
                </a:solidFill>
                <a:latin typeface="Aptos"/>
              </a:rPr>
              <a:t>Interprets submitted details to understand the reported civic issue.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737360"/>
            <a:ext cx="82296" cy="1828800"/>
          </a:xfrm>
          <a:prstGeom prst="rect">
            <a:avLst/>
          </a:prstGeom>
          <a:solidFill>
            <a:srgbClr val="F2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1901952"/>
            <a:ext cx="3017520" cy="384048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800" b="1">
                <a:solidFill>
                  <a:srgbClr val="122B43"/>
                </a:solidFill>
                <a:latin typeface="Aptos"/>
              </a:rPr>
              <a:t>Categorization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395728"/>
            <a:ext cx="2990088" cy="1078992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500" b="0">
                <a:solidFill>
                  <a:srgbClr val="283744"/>
                </a:solidFill>
                <a:latin typeface="Aptos"/>
              </a:rPr>
              <a:t>Groups the issue into a relevant category, such as garbage, water or roads.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73736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955279" y="1737360"/>
            <a:ext cx="82296" cy="1828800"/>
          </a:xfrm>
          <a:prstGeom prst="rect">
            <a:avLst/>
          </a:prstGeom>
          <a:solidFill>
            <a:srgbClr val="5C8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83879" y="1901952"/>
            <a:ext cx="3017520" cy="384048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800" b="1">
                <a:solidFill>
                  <a:srgbClr val="122B43"/>
                </a:solidFill>
                <a:latin typeface="Aptos"/>
              </a:rPr>
              <a:t>Department &amp; priority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2395728"/>
            <a:ext cx="2990088" cy="1078992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500" b="0">
                <a:solidFill>
                  <a:srgbClr val="283744"/>
                </a:solidFill>
                <a:latin typeface="Aptos"/>
              </a:rPr>
              <a:t>Helps identify the concerned department and assess priority using severity and location.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160520"/>
            <a:ext cx="10241280" cy="91440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600" b="0">
                <a:solidFill>
                  <a:srgbClr val="5D707E"/>
                </a:solidFill>
                <a:latin typeface="Aptos"/>
              </a:rPr>
              <a:t>AI is intended to assist complaint handling; the abstract does not specify a particular AI model or guarantee fully automated decisions.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9144000" cy="18288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900" b="1">
                <a:solidFill>
                  <a:srgbClr val="5D707E"/>
                </a:solidFill>
                <a:latin typeface="Aptos"/>
              </a:rPr>
              <a:t>CITY CONNECT • SMART CIVIC SERVICES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r"/>
            <a:r>
              <a:rPr sz="1000" b="1">
                <a:solidFill>
                  <a:srgbClr val="5D707E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3000" b="1">
                <a:solidFill>
                  <a:srgbClr val="122B43"/>
                </a:solidFill>
                <a:latin typeface="Aptos"/>
              </a:rPr>
              <a:t>Users &amp; Key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789920" cy="27432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200" b="1">
                <a:solidFill>
                  <a:srgbClr val="0097A7"/>
                </a:solidFill>
                <a:latin typeface="Aptos"/>
              </a:rPr>
              <a:t>TWO SIDES OF THE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685800" cy="54864"/>
          </a:xfrm>
          <a:prstGeom prst="rect">
            <a:avLst/>
          </a:prstGeom>
          <a:solidFill>
            <a:srgbClr val="F2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502920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A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783080"/>
            <a:ext cx="82296" cy="333756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947672"/>
            <a:ext cx="4617720" cy="384048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800" b="1">
                <a:solidFill>
                  <a:srgbClr val="122B43"/>
                </a:solidFill>
                <a:latin typeface="Aptos"/>
              </a:rPr>
              <a:t>Citizen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441448"/>
            <a:ext cx="4590288" cy="2587752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500" b="0">
                <a:solidFill>
                  <a:srgbClr val="283744"/>
                </a:solidFill>
                <a:latin typeface="Aptos"/>
              </a:rPr>
              <a:t>• Submit a complaint
• Add category, description, location and photos
• Track complaint status
• Receive progress updates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83080"/>
            <a:ext cx="502920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A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9360" y="1783080"/>
            <a:ext cx="82296" cy="3337560"/>
          </a:xfrm>
          <a:prstGeom prst="rect">
            <a:avLst/>
          </a:prstGeom>
          <a:solidFill>
            <a:srgbClr val="F2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1947672"/>
            <a:ext cx="4617720" cy="384048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800" b="1">
                <a:solidFill>
                  <a:srgbClr val="122B43"/>
                </a:solidFill>
                <a:latin typeface="Aptos"/>
              </a:rPr>
              <a:t>Government official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441448"/>
            <a:ext cx="4590288" cy="2587752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500" b="0">
                <a:solidFill>
                  <a:srgbClr val="283744"/>
                </a:solidFill>
                <a:latin typeface="Aptos"/>
              </a:rPr>
              <a:t>• View complaints in a centralized dashboard
• Monitor complaint status
• Assign complaints to departments
• Update progress through resolution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510528"/>
            <a:ext cx="9144000" cy="18288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900" b="1">
                <a:solidFill>
                  <a:srgbClr val="5D707E"/>
                </a:solidFill>
                <a:latin typeface="Aptos"/>
              </a:rPr>
              <a:t>CITY CONNECT • SMART CIVIC 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r"/>
            <a:r>
              <a:rPr sz="1000" b="1">
                <a:solidFill>
                  <a:srgbClr val="5D707E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3000" b="1">
                <a:solidFill>
                  <a:srgbClr val="122B43"/>
                </a:solidFill>
                <a:latin typeface="Aptos"/>
              </a:rPr>
              <a:t>Expected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789920" cy="27432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200" b="1">
                <a:solidFill>
                  <a:srgbClr val="0097A7"/>
                </a:solidFill>
                <a:latin typeface="Aptos"/>
              </a:rPr>
              <a:t>WHAT THE PROJECT AIMS TO IMPROVE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685800" cy="54864"/>
          </a:xfrm>
          <a:prstGeom prst="rect">
            <a:avLst/>
          </a:prstGeom>
          <a:solidFill>
            <a:srgbClr val="F2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82296" cy="150876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901952"/>
            <a:ext cx="3017520" cy="384048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800" b="1">
                <a:solidFill>
                  <a:srgbClr val="122B43"/>
                </a:solidFill>
                <a:latin typeface="Aptos"/>
              </a:rPr>
              <a:t>Faster handling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95728"/>
            <a:ext cx="2990088" cy="758952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500" b="0">
                <a:solidFill>
                  <a:srgbClr val="283744"/>
                </a:solidFill>
                <a:latin typeface="Aptos"/>
              </a:rPr>
              <a:t>Reduce complaint response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73736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0" y="1737360"/>
            <a:ext cx="82296" cy="1508760"/>
          </a:xfrm>
          <a:prstGeom prst="rect">
            <a:avLst/>
          </a:prstGeom>
          <a:solidFill>
            <a:srgbClr val="F2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00600" y="1901952"/>
            <a:ext cx="3017520" cy="384048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800" b="1">
                <a:solidFill>
                  <a:srgbClr val="122B43"/>
                </a:solidFill>
                <a:latin typeface="Aptos"/>
              </a:rPr>
              <a:t>Better allocation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395728"/>
            <a:ext cx="2990088" cy="758952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500" b="0">
                <a:solidFill>
                  <a:srgbClr val="283744"/>
                </a:solidFill>
                <a:latin typeface="Aptos"/>
              </a:rPr>
              <a:t>Support efficient use of resources.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173736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412480" y="1737360"/>
            <a:ext cx="82296" cy="1508760"/>
          </a:xfrm>
          <a:prstGeom prst="rect">
            <a:avLst/>
          </a:prstGeom>
          <a:solidFill>
            <a:srgbClr val="5C8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41080" y="1901952"/>
            <a:ext cx="3017520" cy="384048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800" b="1">
                <a:solidFill>
                  <a:srgbClr val="122B43"/>
                </a:solidFill>
                <a:latin typeface="Aptos"/>
              </a:rPr>
              <a:t>Transparency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395728"/>
            <a:ext cx="2990088" cy="758952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500" b="0">
                <a:solidFill>
                  <a:srgbClr val="283744"/>
                </a:solidFill>
                <a:latin typeface="Aptos"/>
              </a:rPr>
              <a:t>Make complaint progress visible to citizens.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49039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3749039"/>
            <a:ext cx="82296" cy="1508760"/>
          </a:xfrm>
          <a:prstGeom prst="rect">
            <a:avLst/>
          </a:prstGeom>
          <a:solidFill>
            <a:srgbClr val="66A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3913631"/>
            <a:ext cx="3017520" cy="384048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800" b="1">
                <a:solidFill>
                  <a:srgbClr val="122B43"/>
                </a:solidFill>
                <a:latin typeface="Aptos"/>
              </a:rPr>
              <a:t>Accountability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407407"/>
            <a:ext cx="2990088" cy="758952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500" b="0">
                <a:solidFill>
                  <a:srgbClr val="283744"/>
                </a:solidFill>
                <a:latin typeface="Aptos"/>
              </a:rPr>
              <a:t>Help track responsibility and status.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3749039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0" y="3749039"/>
            <a:ext cx="82296" cy="1508760"/>
          </a:xfrm>
          <a:prstGeom prst="rect">
            <a:avLst/>
          </a:prstGeom>
          <a:solidFill>
            <a:srgbClr val="12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00600" y="3913631"/>
            <a:ext cx="3017520" cy="384048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800" b="1">
                <a:solidFill>
                  <a:srgbClr val="122B43"/>
                </a:solidFill>
                <a:latin typeface="Aptos"/>
              </a:rPr>
              <a:t>Data-driven planning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4407407"/>
            <a:ext cx="2990088" cy="758952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500" b="0">
                <a:solidFill>
                  <a:srgbClr val="283744"/>
                </a:solidFill>
                <a:latin typeface="Aptos"/>
              </a:rPr>
              <a:t>Identify recurring civic problems for decision-making.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510528"/>
            <a:ext cx="9144000" cy="18288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900" b="1">
                <a:solidFill>
                  <a:srgbClr val="5D707E"/>
                </a:solidFill>
                <a:latin typeface="Aptos"/>
              </a:rPr>
              <a:t>CITY CONNECT • SMART CIVIC SERVICES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r"/>
            <a:r>
              <a:rPr sz="1000" b="1">
                <a:solidFill>
                  <a:srgbClr val="5D707E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09728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22B43"/>
                </a:solidFill>
                <a:latin typeface="Aptos"/>
              </a:defRPr>
            </a:pPr>
            <a:r>
              <a:t>Project Design – City Connect</a:t>
            </a:r>
          </a:p>
        </p:txBody>
      </p:sp>
      <p:pic>
        <p:nvPicPr>
          <p:cNvPr id="3" name="Picture 2" descr="a_wide_clean_infographic_slide_with_a_white_back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836" y="658368"/>
            <a:ext cx="10642022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A0F998-74A3-8CA6-2AB9-725BC973F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0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3000" b="1">
                <a:solidFill>
                  <a:srgbClr val="122B43"/>
                </a:solidFill>
                <a:latin typeface="Aptos"/>
              </a:rPr>
              <a:t>Project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789920" cy="27432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200" b="1">
                <a:solidFill>
                  <a:srgbClr val="0097A7"/>
                </a:solidFill>
                <a:latin typeface="Aptos"/>
              </a:rPr>
              <a:t>SYSTEM COMPONENTS &amp; INTERACTION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685800" cy="54864"/>
          </a:xfrm>
          <a:prstGeom prst="rect">
            <a:avLst/>
          </a:prstGeom>
          <a:solidFill>
            <a:srgbClr val="F2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82296" cy="150876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837944"/>
            <a:ext cx="3017520" cy="36576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800" b="1">
                <a:solidFill>
                  <a:srgbClr val="122B43"/>
                </a:solidFill>
                <a:latin typeface="Aptos"/>
              </a:rPr>
              <a:t>Citizen interface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13432"/>
            <a:ext cx="2990088" cy="795527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500" b="0">
                <a:solidFill>
                  <a:srgbClr val="283744"/>
                </a:solidFill>
                <a:latin typeface="Aptos"/>
              </a:rPr>
              <a:t>Complaint form captures category, description, location, photos and supporting details.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9164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691640"/>
            <a:ext cx="82296" cy="1508760"/>
          </a:xfrm>
          <a:prstGeom prst="rect">
            <a:avLst/>
          </a:prstGeom>
          <a:solidFill>
            <a:srgbClr val="F2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1837944"/>
            <a:ext cx="3017520" cy="36576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800" b="1">
                <a:solidFill>
                  <a:srgbClr val="122B43"/>
                </a:solidFill>
                <a:latin typeface="Aptos"/>
              </a:rPr>
              <a:t>AI analysis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313432"/>
            <a:ext cx="2990088" cy="795527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500" b="0">
                <a:solidFill>
                  <a:srgbClr val="283744"/>
                </a:solidFill>
                <a:latin typeface="Aptos"/>
              </a:rPr>
              <a:t>Analyzes complaint details; supports categorization, department identification and priority assessment.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9164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691640"/>
            <a:ext cx="82296" cy="1508760"/>
          </a:xfrm>
          <a:prstGeom prst="rect">
            <a:avLst/>
          </a:prstGeom>
          <a:solidFill>
            <a:srgbClr val="5C8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20" y="1837944"/>
            <a:ext cx="3017520" cy="36576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800" b="1">
                <a:solidFill>
                  <a:srgbClr val="122B43"/>
                </a:solidFill>
                <a:latin typeface="Aptos"/>
              </a:rPr>
              <a:t>Officials’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313432"/>
            <a:ext cx="2990088" cy="795527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500" b="0">
                <a:solidFill>
                  <a:srgbClr val="283744"/>
                </a:solidFill>
                <a:latin typeface="Aptos"/>
              </a:rPr>
              <a:t>Central view to review, assign, monitor and update complaint status.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886200"/>
            <a:ext cx="10241280" cy="45720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2000" b="1">
                <a:solidFill>
                  <a:srgbClr val="122B43"/>
                </a:solidFill>
                <a:latin typeface="Aptos"/>
              </a:rPr>
              <a:t>Information 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434840"/>
            <a:ext cx="10241280" cy="68580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ctr"/>
            <a:r>
              <a:rPr sz="1900" b="1">
                <a:solidFill>
                  <a:srgbClr val="0097A7"/>
                </a:solidFill>
                <a:latin typeface="Aptos"/>
              </a:rPr>
              <a:t>Citizen submits → System records details → AI assists classification/routing → Officials manage → Citizen tracks updates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486400"/>
            <a:ext cx="10149840" cy="45720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500" b="0">
                <a:solidFill>
                  <a:srgbClr val="5D707E"/>
                </a:solidFill>
                <a:latin typeface="Aptos"/>
              </a:rPr>
              <a:t>Design principle: one shared complaint record supports visibility for citizens and officials.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510528"/>
            <a:ext cx="9144000" cy="18288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900" b="1">
                <a:solidFill>
                  <a:srgbClr val="5D707E"/>
                </a:solidFill>
                <a:latin typeface="Aptos"/>
              </a:rPr>
              <a:t>CITY CONNECT • SMART CIVIC SERVICES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r"/>
            <a:r>
              <a:rPr sz="1000" b="1">
                <a:solidFill>
                  <a:srgbClr val="5D707E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3000" b="1">
                <a:solidFill>
                  <a:srgbClr val="122B43"/>
                </a:solidFill>
                <a:latin typeface="Aptos"/>
              </a:rPr>
              <a:t>Project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789920" cy="27432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200" b="1">
                <a:solidFill>
                  <a:srgbClr val="0097A7"/>
                </a:solidFill>
                <a:latin typeface="Aptos"/>
              </a:rPr>
              <a:t>PLANNED DEVELOPMENT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685800" cy="54864"/>
          </a:xfrm>
          <a:prstGeom prst="rect">
            <a:avLst/>
          </a:prstGeom>
          <a:solidFill>
            <a:srgbClr val="F2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965960"/>
            <a:ext cx="20574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A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965960"/>
            <a:ext cx="82296" cy="224028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112264"/>
            <a:ext cx="1645920" cy="36576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800" b="1">
                <a:solidFill>
                  <a:srgbClr val="122B43"/>
                </a:solidFill>
                <a:latin typeface="Aptos"/>
              </a:rPr>
              <a:t>1. Identify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87752"/>
            <a:ext cx="1618488" cy="1527048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500" b="0">
                <a:solidFill>
                  <a:srgbClr val="283744"/>
                </a:solidFill>
                <a:latin typeface="Aptos"/>
              </a:rPr>
              <a:t>List common civic issues and user needs.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4328" y="2788920"/>
            <a:ext cx="292608" cy="36576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ctr"/>
            <a:r>
              <a:rPr sz="2500" b="1">
                <a:solidFill>
                  <a:srgbClr val="0097A7"/>
                </a:solidFill>
                <a:latin typeface="Aptos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79" y="1965960"/>
            <a:ext cx="20574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A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926079" y="1965960"/>
            <a:ext cx="82296" cy="2240280"/>
          </a:xfrm>
          <a:prstGeom prst="rect">
            <a:avLst/>
          </a:prstGeom>
          <a:solidFill>
            <a:srgbClr val="F2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54679" y="2112264"/>
            <a:ext cx="1645920" cy="36576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800" b="1">
                <a:solidFill>
                  <a:srgbClr val="122B43"/>
                </a:solidFill>
                <a:latin typeface="Aptos"/>
              </a:rPr>
              <a:t>2.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79" y="2587752"/>
            <a:ext cx="1618488" cy="1527048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500" b="0">
                <a:solidFill>
                  <a:srgbClr val="283744"/>
                </a:solidFill>
                <a:latin typeface="Aptos"/>
              </a:rPr>
              <a:t>Define citizen flow, official dashboard and complaint status flow.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6048" y="2788920"/>
            <a:ext cx="292608" cy="36576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ctr"/>
            <a:r>
              <a:rPr sz="2500" b="1">
                <a:solidFill>
                  <a:srgbClr val="0097A7"/>
                </a:solidFill>
                <a:latin typeface="Aptos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57800" y="1965960"/>
            <a:ext cx="20574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A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257800" y="1965960"/>
            <a:ext cx="82296" cy="2240280"/>
          </a:xfrm>
          <a:prstGeom prst="rect">
            <a:avLst/>
          </a:prstGeom>
          <a:solidFill>
            <a:srgbClr val="5C8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0" y="2112264"/>
            <a:ext cx="1645920" cy="36576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800" b="1">
                <a:solidFill>
                  <a:srgbClr val="122B43"/>
                </a:solidFill>
                <a:latin typeface="Aptos"/>
              </a:rPr>
              <a:t>3. Build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2587752"/>
            <a:ext cx="1618488" cy="1527048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500" b="0">
                <a:solidFill>
                  <a:srgbClr val="283744"/>
                </a:solidFill>
                <a:latin typeface="Aptos"/>
              </a:rPr>
              <a:t>Implement complaint submission and management components.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87768" y="2788920"/>
            <a:ext cx="292608" cy="36576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ctr"/>
            <a:r>
              <a:rPr sz="2500" b="1">
                <a:solidFill>
                  <a:srgbClr val="0097A7"/>
                </a:solidFill>
                <a:latin typeface="Aptos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19" y="1965960"/>
            <a:ext cx="20574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A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589519" y="1965960"/>
            <a:ext cx="82296" cy="2240280"/>
          </a:xfrm>
          <a:prstGeom prst="rect">
            <a:avLst/>
          </a:prstGeom>
          <a:solidFill>
            <a:srgbClr val="66A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18119" y="2112264"/>
            <a:ext cx="1645920" cy="36576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800" b="1">
                <a:solidFill>
                  <a:srgbClr val="122B43"/>
                </a:solidFill>
                <a:latin typeface="Aptos"/>
              </a:rPr>
              <a:t>4. Integrate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19" y="2587752"/>
            <a:ext cx="1618488" cy="1527048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500" b="0">
                <a:solidFill>
                  <a:srgbClr val="283744"/>
                </a:solidFill>
                <a:latin typeface="Aptos"/>
              </a:rPr>
              <a:t>Add analysis for categorization, department suggestion and priority support.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19488" y="2788920"/>
            <a:ext cx="292608" cy="36576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ctr"/>
            <a:r>
              <a:rPr sz="2500" b="1">
                <a:solidFill>
                  <a:srgbClr val="0097A7"/>
                </a:solidFill>
                <a:latin typeface="Aptos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921240" y="1965960"/>
            <a:ext cx="20574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A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921240" y="1965960"/>
            <a:ext cx="82296" cy="2240280"/>
          </a:xfrm>
          <a:prstGeom prst="rect">
            <a:avLst/>
          </a:prstGeom>
          <a:solidFill>
            <a:srgbClr val="12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149840" y="2112264"/>
            <a:ext cx="1645920" cy="36576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800" b="1">
                <a:solidFill>
                  <a:srgbClr val="122B43"/>
                </a:solidFill>
                <a:latin typeface="Aptos"/>
              </a:rPr>
              <a:t>5. Test &amp; refine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2587752"/>
            <a:ext cx="1618488" cy="1527048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500" b="0">
                <a:solidFill>
                  <a:srgbClr val="283744"/>
                </a:solidFill>
                <a:latin typeface="Aptos"/>
              </a:rPr>
              <a:t>Test submissions, routing, status updates and usability.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4892040"/>
            <a:ext cx="10332720" cy="73152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ctr"/>
            <a:r>
              <a:rPr sz="1900" b="1">
                <a:solidFill>
                  <a:srgbClr val="122B43"/>
                </a:solidFill>
                <a:latin typeface="Aptos"/>
              </a:rPr>
              <a:t>Methodology follows an iterative cycle: design → implement → test → improve.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715000"/>
            <a:ext cx="10332720" cy="32004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200" b="0">
                <a:solidFill>
                  <a:srgbClr val="5D707E"/>
                </a:solidFill>
                <a:latin typeface="Aptos"/>
              </a:rPr>
              <a:t>Present these as your actual completed steps only where implementation/testing is already done.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510528"/>
            <a:ext cx="9144000" cy="18288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900" b="1">
                <a:solidFill>
                  <a:srgbClr val="5D707E"/>
                </a:solidFill>
                <a:latin typeface="Aptos"/>
              </a:rPr>
              <a:t>CITY CONNECT • SMART CIVIC SERVICES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r"/>
            <a:r>
              <a:rPr sz="1000" b="1">
                <a:solidFill>
                  <a:srgbClr val="5D707E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FB0661-EF77-F2DB-0EE5-8CF4D0C30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3566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441088-D97A-0CE8-6C45-69FBF32644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70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9130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C20E91-4944-87C8-6488-969F59968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999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2722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3000" b="1">
                <a:solidFill>
                  <a:srgbClr val="122B43"/>
                </a:solidFill>
                <a:latin typeface="Aptos"/>
              </a:rPr>
              <a:t>Technical Soundness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789920" cy="27432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200" b="1">
                <a:solidFill>
                  <a:srgbClr val="0097A7"/>
                </a:solidFill>
                <a:latin typeface="Aptos"/>
              </a:rPr>
              <a:t>WHY THE APPROACH IS PRACTICAL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685800" cy="54864"/>
          </a:xfrm>
          <a:prstGeom prst="rect">
            <a:avLst/>
          </a:prstGeom>
          <a:solidFill>
            <a:srgbClr val="F2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691640"/>
            <a:ext cx="5074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691640"/>
            <a:ext cx="82296" cy="141732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837944"/>
            <a:ext cx="4663440" cy="36576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800" b="1">
                <a:solidFill>
                  <a:srgbClr val="122B43"/>
                </a:solidFill>
                <a:latin typeface="Aptos"/>
              </a:rPr>
              <a:t>Structured complaint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13432"/>
            <a:ext cx="4636008" cy="704088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500" b="0">
                <a:solidFill>
                  <a:srgbClr val="283744"/>
                </a:solidFill>
                <a:latin typeface="Aptos"/>
              </a:rPr>
              <a:t>Using consistent fields (category, description, location, photo and status) makes reports easier to process.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91640"/>
            <a:ext cx="5074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9360" y="1691640"/>
            <a:ext cx="82296" cy="1417320"/>
          </a:xfrm>
          <a:prstGeom prst="rect">
            <a:avLst/>
          </a:prstGeom>
          <a:solidFill>
            <a:srgbClr val="F2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1837944"/>
            <a:ext cx="4663440" cy="36576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800" b="1">
                <a:solidFill>
                  <a:srgbClr val="122B43"/>
                </a:solidFill>
                <a:latin typeface="Aptos"/>
              </a:rPr>
              <a:t>Role-based workflows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313432"/>
            <a:ext cx="4636008" cy="704088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500" b="0">
                <a:solidFill>
                  <a:srgbClr val="283744"/>
                </a:solidFill>
                <a:latin typeface="Aptos"/>
              </a:rPr>
              <a:t>Citizens submit and track; officials review, assign and update. Each role has a clear purpose.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474720"/>
            <a:ext cx="5074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7240" y="3474720"/>
            <a:ext cx="82296" cy="1417320"/>
          </a:xfrm>
          <a:prstGeom prst="rect">
            <a:avLst/>
          </a:prstGeom>
          <a:solidFill>
            <a:srgbClr val="5C8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3621024"/>
            <a:ext cx="4663440" cy="36576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800" b="1">
                <a:solidFill>
                  <a:srgbClr val="122B43"/>
                </a:solidFill>
                <a:latin typeface="Aptos"/>
              </a:rPr>
              <a:t>Centralized status tracking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096511"/>
            <a:ext cx="4636008" cy="704088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500" b="0">
                <a:solidFill>
                  <a:srgbClr val="283744"/>
                </a:solidFill>
                <a:latin typeface="Aptos"/>
              </a:rPr>
              <a:t>A shared complaint record helps keep progress updates consistent across the workflow.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474720"/>
            <a:ext cx="5074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3474720"/>
            <a:ext cx="82296" cy="1417320"/>
          </a:xfrm>
          <a:prstGeom prst="rect">
            <a:avLst/>
          </a:prstGeom>
          <a:solidFill>
            <a:srgbClr val="66A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3621024"/>
            <a:ext cx="4663440" cy="36576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800" b="1">
                <a:solidFill>
                  <a:srgbClr val="122B43"/>
                </a:solidFill>
                <a:latin typeface="Aptos"/>
              </a:rPr>
              <a:t>AI as decision support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096511"/>
            <a:ext cx="4636008" cy="704088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500" b="0">
                <a:solidFill>
                  <a:srgbClr val="283744"/>
                </a:solidFill>
                <a:latin typeface="Aptos"/>
              </a:rPr>
              <a:t>AI can assist classification and prioritization; officials remain responsible for handling decisions.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394960"/>
            <a:ext cx="10241280" cy="54864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500" b="0">
                <a:solidFill>
                  <a:srgbClr val="5D707E"/>
                </a:solidFill>
                <a:latin typeface="Aptos"/>
              </a:rPr>
              <a:t>Technical validation should include form checks, category/routing checks, status-update tests and user-flow testing.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10528"/>
            <a:ext cx="9144000" cy="18288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900" b="1">
                <a:solidFill>
                  <a:srgbClr val="5D707E"/>
                </a:solidFill>
                <a:latin typeface="Aptos"/>
              </a:rPr>
              <a:t>CITY CONNECT • SMART CIVIC SERVICES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r"/>
            <a:r>
              <a:rPr sz="1000" b="1">
                <a:solidFill>
                  <a:srgbClr val="5D707E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3000" b="1">
                <a:solidFill>
                  <a:srgbClr val="122B43"/>
                </a:solidFill>
                <a:latin typeface="Aptos"/>
              </a:rPr>
              <a:t>Innovation, Creativity &amp; Novelty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789920" cy="27432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200" b="1">
                <a:solidFill>
                  <a:srgbClr val="0097A7"/>
                </a:solidFill>
                <a:latin typeface="Aptos"/>
              </a:rPr>
              <a:t>WHAT IS DISTINCTIVE IN THE PROPOSED APPROACH?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685800" cy="54864"/>
          </a:xfrm>
          <a:prstGeom prst="rect">
            <a:avLst/>
          </a:prstGeom>
          <a:solidFill>
            <a:srgbClr val="F2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737360"/>
            <a:ext cx="34290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A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737360"/>
            <a:ext cx="82296" cy="224028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883664"/>
            <a:ext cx="3017520" cy="36576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800" b="1">
                <a:solidFill>
                  <a:srgbClr val="122B43"/>
                </a:solidFill>
                <a:latin typeface="Aptos"/>
              </a:rPr>
              <a:t>AI-assisted intake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59152"/>
            <a:ext cx="2990088" cy="1527048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500" b="0">
                <a:solidFill>
                  <a:srgbClr val="283744"/>
                </a:solidFill>
                <a:latin typeface="Aptos"/>
              </a:rPr>
              <a:t>Complaint details are analyzed to help categorize issues and identify the relevant department.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4290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A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737360"/>
            <a:ext cx="82296" cy="2240280"/>
          </a:xfrm>
          <a:prstGeom prst="rect">
            <a:avLst/>
          </a:prstGeom>
          <a:solidFill>
            <a:srgbClr val="F2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1883664"/>
            <a:ext cx="3017520" cy="36576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800" b="1">
                <a:solidFill>
                  <a:srgbClr val="122B43"/>
                </a:solidFill>
                <a:latin typeface="Aptos"/>
              </a:rPr>
              <a:t>Location + severity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359152"/>
            <a:ext cx="2990088" cy="1527048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500" b="0">
                <a:solidFill>
                  <a:srgbClr val="283744"/>
                </a:solidFill>
                <a:latin typeface="Aptos"/>
              </a:rPr>
              <a:t>Issue location and severity are considered when helping assess complaint priority.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737360"/>
            <a:ext cx="34290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A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01000" y="1737360"/>
            <a:ext cx="82296" cy="2240280"/>
          </a:xfrm>
          <a:prstGeom prst="rect">
            <a:avLst/>
          </a:prstGeom>
          <a:solidFill>
            <a:srgbClr val="5C8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1883664"/>
            <a:ext cx="3017520" cy="36576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800" b="1">
                <a:solidFill>
                  <a:srgbClr val="122B43"/>
                </a:solidFill>
                <a:latin typeface="Aptos"/>
              </a:rPr>
              <a:t>Citizen-to-official loop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359152"/>
            <a:ext cx="2990088" cy="1527048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500" b="0">
                <a:solidFill>
                  <a:srgbClr val="283744"/>
                </a:solidFill>
                <a:latin typeface="Aptos"/>
              </a:rPr>
              <a:t>Reporting, assignment, progress updates and citizen tracking are connected in one workflow.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480560"/>
            <a:ext cx="10241280" cy="91440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700" b="1">
                <a:solidFill>
                  <a:srgbClr val="122B43"/>
                </a:solidFill>
                <a:latin typeface="Aptos"/>
              </a:rPr>
              <a:t>Creativity focus: combine AI support, location-based information and transparent tracking in a single civic-service experience. These are proposed differentiators, not claims of being the first such system.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9144000" cy="18288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900" b="1">
                <a:solidFill>
                  <a:srgbClr val="5D707E"/>
                </a:solidFill>
                <a:latin typeface="Aptos"/>
              </a:rPr>
              <a:t>CITY CONNECT • SMART CIVIC SERVICES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r"/>
            <a:r>
              <a:rPr sz="1000" b="1">
                <a:solidFill>
                  <a:srgbClr val="5D707E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3000" b="1">
                <a:solidFill>
                  <a:srgbClr val="122B43"/>
                </a:solidFill>
                <a:latin typeface="Aptos"/>
              </a:rPr>
              <a:t>Limitations &amp;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789920" cy="27432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200" b="1">
                <a:solidFill>
                  <a:srgbClr val="0097A7"/>
                </a:solidFill>
                <a:latin typeface="Aptos"/>
              </a:rPr>
              <a:t>WHAT THE PROJECT MUST ACCOUNT FOR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685800" cy="54864"/>
          </a:xfrm>
          <a:prstGeom prst="rect">
            <a:avLst/>
          </a:prstGeom>
          <a:solidFill>
            <a:srgbClr val="F2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691640"/>
            <a:ext cx="5074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691640"/>
            <a:ext cx="82296" cy="141732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837944"/>
            <a:ext cx="4663440" cy="36576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800" b="1">
                <a:solidFill>
                  <a:srgbClr val="122B43"/>
                </a:solidFill>
                <a:latin typeface="Aptos"/>
              </a:rPr>
              <a:t>Data quality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13432"/>
            <a:ext cx="4636008" cy="704088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500" b="0">
                <a:solidFill>
                  <a:srgbClr val="283744"/>
                </a:solidFill>
                <a:latin typeface="Aptos"/>
              </a:rPr>
              <a:t>Incomplete descriptions, unclear photos or inaccurate locations can affect analysis.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91640"/>
            <a:ext cx="5074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9360" y="1691640"/>
            <a:ext cx="82296" cy="1417320"/>
          </a:xfrm>
          <a:prstGeom prst="rect">
            <a:avLst/>
          </a:prstGeom>
          <a:solidFill>
            <a:srgbClr val="F2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1837944"/>
            <a:ext cx="4663440" cy="36576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800" b="1">
                <a:solidFill>
                  <a:srgbClr val="122B43"/>
                </a:solidFill>
                <a:latin typeface="Aptos"/>
              </a:rPr>
              <a:t>AI errors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313432"/>
            <a:ext cx="4636008" cy="704088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500" b="0">
                <a:solidFill>
                  <a:srgbClr val="283744"/>
                </a:solidFill>
                <a:latin typeface="Aptos"/>
              </a:rPr>
              <a:t>Categorization or priority suggestions may be incorrect and need human review.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474720"/>
            <a:ext cx="5074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7240" y="3474720"/>
            <a:ext cx="82296" cy="1417320"/>
          </a:xfrm>
          <a:prstGeom prst="rect">
            <a:avLst/>
          </a:prstGeom>
          <a:solidFill>
            <a:srgbClr val="5C8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3621024"/>
            <a:ext cx="4663440" cy="36576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800" b="1">
                <a:solidFill>
                  <a:srgbClr val="122B43"/>
                </a:solidFill>
                <a:latin typeface="Aptos"/>
              </a:rPr>
              <a:t>Operational dependency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096511"/>
            <a:ext cx="4636008" cy="704088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500" b="0">
                <a:solidFill>
                  <a:srgbClr val="283744"/>
                </a:solidFill>
                <a:latin typeface="Aptos"/>
              </a:rPr>
              <a:t>Resolution depends on department participation, resources and timely status updates.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474720"/>
            <a:ext cx="5074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3474720"/>
            <a:ext cx="82296" cy="1417320"/>
          </a:xfrm>
          <a:prstGeom prst="rect">
            <a:avLst/>
          </a:prstGeom>
          <a:solidFill>
            <a:srgbClr val="66A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3621024"/>
            <a:ext cx="4663440" cy="36576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800" b="1">
                <a:solidFill>
                  <a:srgbClr val="122B43"/>
                </a:solidFill>
                <a:latin typeface="Aptos"/>
              </a:rPr>
              <a:t>Access &amp; privacy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096511"/>
            <a:ext cx="4636008" cy="704088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500" b="0">
                <a:solidFill>
                  <a:srgbClr val="283744"/>
                </a:solidFill>
                <a:latin typeface="Aptos"/>
              </a:rPr>
              <a:t>The platform needs secure handling of user details, photos and location information; access to internet/devices may vary.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394960"/>
            <a:ext cx="10241280" cy="50292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1500" b="0">
                <a:solidFill>
                  <a:srgbClr val="5D707E"/>
                </a:solidFill>
                <a:latin typeface="Aptos"/>
              </a:rPr>
              <a:t>These limitations can be addressed through validation, human oversight, privacy safeguards and clear complaint-status procedures.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10528"/>
            <a:ext cx="9144000" cy="18288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900" b="1">
                <a:solidFill>
                  <a:srgbClr val="5D707E"/>
                </a:solidFill>
                <a:latin typeface="Aptos"/>
              </a:rPr>
              <a:t>CITY CONNECT • SMART CIVIC SERVICES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r"/>
            <a:r>
              <a:rPr sz="1000" b="1">
                <a:solidFill>
                  <a:srgbClr val="5D707E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685800"/>
            <a:ext cx="10515600" cy="59436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554480"/>
            <a:ext cx="9784080" cy="137160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2800" b="1">
                <a:solidFill>
                  <a:srgbClr val="CDE4EC"/>
                </a:solidFill>
                <a:latin typeface="Aptos"/>
              </a:rPr>
              <a:t>City Connect aims to make civic complaint management more accessible, transparent and efficient.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383280"/>
            <a:ext cx="9601200" cy="109728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2000" b="0">
                <a:solidFill>
                  <a:srgbClr val="FFFFFF"/>
                </a:solidFill>
                <a:latin typeface="Aptos"/>
              </a:rPr>
              <a:t>By combining AI, location-based services, data analytics and centralized complaint management, the platform supports better communication between citizens and authorities.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623560"/>
            <a:ext cx="9601200" cy="50292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2200" b="1">
                <a:solidFill>
                  <a:srgbClr val="A6E0E5"/>
                </a:solidFill>
                <a:latin typeface="Aptos"/>
              </a:rPr>
              <a:t>Thank you • 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9144000" cy="18288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r>
              <a:rPr sz="900" b="1">
                <a:solidFill>
                  <a:srgbClr val="5D707E"/>
                </a:solidFill>
                <a:latin typeface="Aptos"/>
              </a:rPr>
              <a:t>CITY CONNECT • SMART CIVIC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r"/>
            <a:r>
              <a:rPr sz="1000" b="1">
                <a:solidFill>
                  <a:srgbClr val="5D707E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1135</Words>
  <Application>Microsoft Office PowerPoint</Application>
  <PresentationFormat>Widescreen</PresentationFormat>
  <Paragraphs>171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Shravanya</dc:creator>
  <cp:keywords/>
  <dc:description>generated using python-pptx</dc:description>
  <cp:lastModifiedBy>chshravanyasaisiri@outlook.com</cp:lastModifiedBy>
  <cp:revision>3</cp:revision>
  <dcterms:created xsi:type="dcterms:W3CDTF">2013-01-27T09:14:16Z</dcterms:created>
  <dcterms:modified xsi:type="dcterms:W3CDTF">2026-10-01T05:16:35Z</dcterms:modified>
  <cp:category/>
</cp:coreProperties>
</file>